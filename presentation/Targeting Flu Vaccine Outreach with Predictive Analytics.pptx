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2CAFC-0A88-423B-88AE-9FAA0921DC23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4612A-827F-42F2-A192-11012B34124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88434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6901112-7F15-46C7-B001-0B9690DDE79D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C9BBB-3F0E-43BA-AC40-DC4096E73A3D}" type="slidenum">
              <a:rPr lang="en-KE" smtClean="0"/>
              <a:t>‹#›</a:t>
            </a:fld>
            <a:endParaRPr lang="en-K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62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1112-7F15-46C7-B001-0B9690DDE79D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C9BBB-3F0E-43BA-AC40-DC4096E73A3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45548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1112-7F15-46C7-B001-0B9690DDE79D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C9BBB-3F0E-43BA-AC40-DC4096E73A3D}" type="slidenum">
              <a:rPr lang="en-KE" smtClean="0"/>
              <a:t>‹#›</a:t>
            </a:fld>
            <a:endParaRPr lang="en-K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537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1112-7F15-46C7-B001-0B9690DDE79D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C9BBB-3F0E-43BA-AC40-DC4096E73A3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9435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1112-7F15-46C7-B001-0B9690DDE79D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C9BBB-3F0E-43BA-AC40-DC4096E73A3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61306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1112-7F15-46C7-B001-0B9690DDE79D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C9BBB-3F0E-43BA-AC40-DC4096E73A3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97441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1112-7F15-46C7-B001-0B9690DDE79D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C9BBB-3F0E-43BA-AC40-DC4096E73A3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607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1112-7F15-46C7-B001-0B9690DDE79D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C9BBB-3F0E-43BA-AC40-DC4096E73A3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05570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1112-7F15-46C7-B001-0B9690DDE79D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C9BBB-3F0E-43BA-AC40-DC4096E73A3D}" type="slidenum">
              <a:rPr lang="en-KE" smtClean="0"/>
              <a:t>‹#›</a:t>
            </a:fld>
            <a:endParaRPr lang="en-K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2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1112-7F15-46C7-B001-0B9690DDE79D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C9BBB-3F0E-43BA-AC40-DC4096E73A3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686621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01112-7F15-46C7-B001-0B9690DDE79D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C9BBB-3F0E-43BA-AC40-DC4096E73A3D}" type="slidenum">
              <a:rPr lang="en-KE" smtClean="0"/>
              <a:t>‹#›</a:t>
            </a:fld>
            <a:endParaRPr lang="en-KE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25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6901112-7F15-46C7-B001-0B9690DDE79D}" type="datetimeFigureOut">
              <a:rPr lang="en-KE" smtClean="0"/>
              <a:t>12/02/2026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E5C9BBB-3F0E-43BA-AC40-DC4096E73A3D}" type="slidenum">
              <a:rPr lang="en-KE" smtClean="0"/>
              <a:t>‹#›</a:t>
            </a:fld>
            <a:endParaRPr lang="en-KE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0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7C1A5-E57C-5122-C731-764ED3BEB5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Targeting Flu Vaccine Outreach with Predictive Analytics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B0F6D-F023-9011-1B82-9145CA658D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Machine Learning to Reach the People Who Need Us Most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493315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0B666E-ECCD-D07E-70E4-E1EFF0448C96}"/>
              </a:ext>
            </a:extLst>
          </p:cNvPr>
          <p:cNvSpPr txBox="1"/>
          <p:nvPr/>
        </p:nvSpPr>
        <p:spPr>
          <a:xfrm>
            <a:off x="1436914" y="879565"/>
            <a:ext cx="32837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960EB8-67AC-FAC4-1C0D-3203CE66855D}"/>
              </a:ext>
            </a:extLst>
          </p:cNvPr>
          <p:cNvSpPr txBox="1"/>
          <p:nvPr/>
        </p:nvSpPr>
        <p:spPr>
          <a:xfrm>
            <a:off x="1271887" y="1510502"/>
            <a:ext cx="995496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Current Situation:</a:t>
            </a:r>
            <a:endParaRPr lang="en-US" dirty="0"/>
          </a:p>
          <a:p>
            <a:r>
              <a:rPr lang="en-US" dirty="0"/>
              <a:t>CDC runs nationwide flu vaccination campaigns every year</a:t>
            </a:r>
          </a:p>
          <a:p>
            <a:r>
              <a:rPr lang="en-US" dirty="0"/>
              <a:t>We spend millions on outreach (ads, mailers, community events)</a:t>
            </a:r>
          </a:p>
          <a:p>
            <a:r>
              <a:rPr lang="en-US" dirty="0"/>
              <a:t>But vaccination rates remain below public health targets</a:t>
            </a:r>
          </a:p>
          <a:p>
            <a:endParaRPr lang="en-US" b="1" dirty="0"/>
          </a:p>
          <a:p>
            <a:r>
              <a:rPr lang="en-US" b="1" dirty="0"/>
              <a:t>The Problem:</a:t>
            </a:r>
            <a:br>
              <a:rPr lang="en-US" dirty="0"/>
            </a:br>
            <a:r>
              <a:rPr lang="en-US" dirty="0"/>
              <a:t>Right now, we use a </a:t>
            </a:r>
            <a:r>
              <a:rPr lang="en-US" b="1" dirty="0"/>
              <a:t>broadcast approach</a:t>
            </a:r>
            <a:r>
              <a:rPr lang="en-US" dirty="0"/>
              <a:t>. This means: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Mail flyers to people who already got vaccinated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Money on people who don't need convincing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Never reach the people who are actually hesitant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Lower return on investment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b="1" dirty="0"/>
              <a:t>The Question:</a:t>
            </a:r>
            <a:br>
              <a:rPr lang="en-US" dirty="0"/>
            </a:br>
            <a:r>
              <a:rPr lang="en-US" dirty="0"/>
              <a:t>What if we could predict ,exactly which individuals are unlikely to get vaccinated? Then target only them.</a:t>
            </a:r>
          </a:p>
          <a:p>
            <a:br>
              <a:rPr lang="en-US" dirty="0"/>
            </a:b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68272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47FF0-3179-E33A-7B10-CD18AE2A0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4736D2-8C2B-0BCC-6395-4162716AAEBD}"/>
              </a:ext>
            </a:extLst>
          </p:cNvPr>
          <p:cNvSpPr txBox="1"/>
          <p:nvPr/>
        </p:nvSpPr>
        <p:spPr>
          <a:xfrm>
            <a:off x="1436914" y="879565"/>
            <a:ext cx="23057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What We Did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AFA929-5C7F-00F5-B165-06108C5D897E}"/>
              </a:ext>
            </a:extLst>
          </p:cNvPr>
          <p:cNvSpPr txBox="1"/>
          <p:nvPr/>
        </p:nvSpPr>
        <p:spPr>
          <a:xfrm>
            <a:off x="1436914" y="1720840"/>
            <a:ext cx="790338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 built a system that identifies non-vaccinators with 95% accuracy.</a:t>
            </a:r>
            <a:endParaRPr lang="en-US" dirty="0"/>
          </a:p>
          <a:p>
            <a:r>
              <a:rPr lang="en-US" dirty="0"/>
              <a:t>Using CDC survey data from 26,707 Americans, we created two prediction models:</a:t>
            </a:r>
          </a:p>
          <a:p>
            <a:endParaRPr lang="en-US" dirty="0"/>
          </a:p>
          <a:p>
            <a:r>
              <a:rPr lang="en-US" b="1" dirty="0"/>
              <a:t>Model 1: Seasonal Flu</a:t>
            </a:r>
            <a:endParaRPr lang="en-US" dirty="0"/>
          </a:p>
          <a:p>
            <a:r>
              <a:rPr lang="en-US" dirty="0"/>
              <a:t>Predicts who will skip the annual flu shot</a:t>
            </a:r>
          </a:p>
          <a:p>
            <a:r>
              <a:rPr lang="en-US" dirty="0"/>
              <a:t>Baseline model—reliable, interpretable</a:t>
            </a:r>
          </a:p>
          <a:p>
            <a:endParaRPr lang="en-US" dirty="0"/>
          </a:p>
          <a:p>
            <a:r>
              <a:rPr lang="en-US" b="1" dirty="0"/>
              <a:t>Model 2: H1N1 (Pandemic Flu)</a:t>
            </a:r>
            <a:endParaRPr lang="en-US" dirty="0"/>
          </a:p>
          <a:p>
            <a:r>
              <a:rPr lang="en-US" dirty="0"/>
              <a:t>Predicts who skipped the swine flu vaccine in 2009</a:t>
            </a:r>
          </a:p>
          <a:p>
            <a:r>
              <a:rPr lang="en-US" dirty="0"/>
              <a:t>Captures how people behave during health emergencies</a:t>
            </a:r>
          </a:p>
          <a:p>
            <a:endParaRPr lang="en-US" dirty="0"/>
          </a:p>
          <a:p>
            <a:r>
              <a:rPr lang="en-US" b="1" dirty="0"/>
              <a:t>Both models answer one question:</a:t>
            </a:r>
            <a:r>
              <a:rPr lang="en-US" dirty="0"/>
              <a:t> </a:t>
            </a:r>
            <a:r>
              <a:rPr lang="en-US" i="1" dirty="0"/>
              <a:t>Who should we reach out to?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821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C3583-1ADB-5C3A-6919-4ADC6FE6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E22622-EDB1-4E8C-B1AE-C94F5822CB5F}"/>
              </a:ext>
            </a:extLst>
          </p:cNvPr>
          <p:cNvSpPr txBox="1"/>
          <p:nvPr/>
        </p:nvSpPr>
        <p:spPr>
          <a:xfrm>
            <a:off x="1436914" y="879565"/>
            <a:ext cx="466140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Our Most Important Finding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3BC37-CD61-ABD3-E35E-C3B92F248674}"/>
              </a:ext>
            </a:extLst>
          </p:cNvPr>
          <p:cNvSpPr txBox="1"/>
          <p:nvPr/>
        </p:nvSpPr>
        <p:spPr>
          <a:xfrm>
            <a:off x="1280160" y="5422427"/>
            <a:ext cx="6706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When a doctor recommends: </a:t>
            </a:r>
            <a:r>
              <a:rPr lang="en-US" dirty="0"/>
              <a:t>Vaccination rates </a:t>
            </a:r>
            <a:r>
              <a:rPr lang="en-US" b="1" dirty="0"/>
              <a:t>TRIPLE</a:t>
            </a:r>
            <a:endParaRPr lang="en-US" dirty="0"/>
          </a:p>
          <a:p>
            <a:r>
              <a:rPr lang="en-US" b="1" dirty="0"/>
              <a:t>When no recommendation: </a:t>
            </a:r>
            <a:r>
              <a:rPr lang="en-US" dirty="0"/>
              <a:t>Most people skip the vaccine</a:t>
            </a:r>
          </a:p>
          <a:p>
            <a:r>
              <a:rPr lang="en-US" b="1" dirty="0"/>
              <a:t>Implication:</a:t>
            </a:r>
            <a:r>
              <a:rPr lang="en-US" dirty="0"/>
              <a:t> Best intervention isn't patient-facing. It's provider-facing.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3DB0D3-C54C-E6B5-18C7-5B6C2E14F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08" y="1316362"/>
            <a:ext cx="4874721" cy="403860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CD1F7B7-11B3-3AB3-58C4-0C5B0BEA4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782" y="1329381"/>
            <a:ext cx="5414282" cy="4012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0618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CCD9-0D61-6F7E-ADB5-5DD25C55A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246FB3-D8B8-6100-6D15-B272C6FB641D}"/>
              </a:ext>
            </a:extLst>
          </p:cNvPr>
          <p:cNvSpPr txBox="1"/>
          <p:nvPr/>
        </p:nvSpPr>
        <p:spPr>
          <a:xfrm>
            <a:off x="1436914" y="879565"/>
            <a:ext cx="66986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What Actually Predicts Non-Vaccination?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9868A6-53A7-0B98-94E0-C43F413B95F4}"/>
              </a:ext>
            </a:extLst>
          </p:cNvPr>
          <p:cNvSpPr txBox="1"/>
          <p:nvPr/>
        </p:nvSpPr>
        <p:spPr>
          <a:xfrm>
            <a:off x="7097486" y="1878038"/>
            <a:ext cx="46939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Doctor recommendation is top </a:t>
            </a:r>
            <a:r>
              <a:rPr lang="en-US" dirty="0"/>
              <a:t>because patients trust their own physician more than any campaign, a 3-minute conversation is worth 1,000 flyers. </a:t>
            </a:r>
          </a:p>
          <a:p>
            <a:endParaRPr lang="en-US" dirty="0"/>
          </a:p>
          <a:p>
            <a:r>
              <a:rPr lang="en-US" b="1" dirty="0"/>
              <a:t>Belief in vaccine effectiveness</a:t>
            </a:r>
            <a:r>
              <a:rPr lang="en-US" dirty="0"/>
              <a:t> and </a:t>
            </a:r>
            <a:r>
              <a:rPr lang="en-US" b="1" dirty="0"/>
              <a:t>perceived personal risk</a:t>
            </a:r>
            <a:r>
              <a:rPr lang="en-US" dirty="0"/>
              <a:t> are next; people skip shots they think don't work or don't need.</a:t>
            </a:r>
          </a:p>
          <a:p>
            <a:endParaRPr lang="en-US" dirty="0"/>
          </a:p>
          <a:p>
            <a:r>
              <a:rPr lang="en-US" b="1" dirty="0"/>
              <a:t>Income, education, and region barely matter</a:t>
            </a:r>
            <a:r>
              <a:rPr lang="en-US" dirty="0"/>
              <a:t>—hesitancy crosses class lines and geography. This isn't about who people are or where they live.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4CDC41-D022-F455-B92F-7488593B8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76" y="1514456"/>
            <a:ext cx="6791325" cy="5165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321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1B0B1-482F-E37E-4F4C-BC3719F9B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744CF8-F07A-6EEE-6931-1071C3EF08CF}"/>
              </a:ext>
            </a:extLst>
          </p:cNvPr>
          <p:cNvSpPr txBox="1"/>
          <p:nvPr/>
        </p:nvSpPr>
        <p:spPr>
          <a:xfrm>
            <a:off x="1436914" y="879565"/>
            <a:ext cx="33609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Model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2C68F8-88C7-23C5-0D6E-54630E3EA2FF}"/>
              </a:ext>
            </a:extLst>
          </p:cNvPr>
          <p:cNvSpPr txBox="1"/>
          <p:nvPr/>
        </p:nvSpPr>
        <p:spPr>
          <a:xfrm>
            <a:off x="6714744" y="1484377"/>
            <a:ext cx="4559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Seasonal flu:</a:t>
            </a:r>
            <a:r>
              <a:rPr lang="en-US" dirty="0"/>
              <a:t> Identify </a:t>
            </a:r>
            <a:r>
              <a:rPr lang="en-US" b="1" dirty="0"/>
              <a:t>82%</a:t>
            </a:r>
            <a:r>
              <a:rPr lang="en-US" dirty="0"/>
              <a:t> of non-vaccinators</a:t>
            </a:r>
            <a:br>
              <a:rPr lang="en-US" dirty="0"/>
            </a:br>
            <a:r>
              <a:rPr lang="en-US" b="1" dirty="0"/>
              <a:t>H1N1 (tuned):</a:t>
            </a:r>
            <a:r>
              <a:rPr lang="en-US" dirty="0"/>
              <a:t> Identify </a:t>
            </a:r>
            <a:r>
              <a:rPr lang="en-US" b="1" dirty="0"/>
              <a:t>95%</a:t>
            </a:r>
            <a:r>
              <a:rPr lang="en-US" dirty="0"/>
              <a:t> of non-vaccinators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C52184-F2AC-8613-5380-C3CB218CD300}"/>
              </a:ext>
            </a:extLst>
          </p:cNvPr>
          <p:cNvSpPr txBox="1"/>
          <p:nvPr/>
        </p:nvSpPr>
        <p:spPr>
          <a:xfrm>
            <a:off x="6714744" y="2333285"/>
            <a:ext cx="399596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Out of 100 people who won't vaccinate:</a:t>
            </a:r>
            <a:endParaRPr lang="en-US" dirty="0"/>
          </a:p>
          <a:p>
            <a:r>
              <a:rPr lang="en-US" dirty="0"/>
              <a:t> - We correctly flag 95</a:t>
            </a:r>
          </a:p>
          <a:p>
            <a:r>
              <a:rPr lang="en-US" dirty="0"/>
              <a:t> - We miss only 5</a:t>
            </a:r>
          </a:p>
          <a:p>
            <a:endParaRPr lang="en-US" dirty="0"/>
          </a:p>
          <a:p>
            <a:r>
              <a:rPr lang="en-US" b="1" dirty="0"/>
              <a:t>False negatives (missed opportunities):</a:t>
            </a:r>
            <a:r>
              <a:rPr lang="en-US" dirty="0"/>
              <a:t> </a:t>
            </a:r>
          </a:p>
          <a:p>
            <a:r>
              <a:rPr lang="en-US" dirty="0"/>
              <a:t>Reduced by 70% from baseline</a:t>
            </a:r>
          </a:p>
          <a:p>
            <a:endParaRPr lang="en-K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3061565-BE58-96B8-25F0-796A6C9DA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18" y="1405874"/>
            <a:ext cx="5009139" cy="432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150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94ED-C046-A135-E167-22A1B9450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4CDB60-6AC7-A846-D139-8311AFAC828A}"/>
              </a:ext>
            </a:extLst>
          </p:cNvPr>
          <p:cNvSpPr txBox="1"/>
          <p:nvPr/>
        </p:nvSpPr>
        <p:spPr>
          <a:xfrm>
            <a:off x="1436914" y="879565"/>
            <a:ext cx="54960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Cost Impact &amp;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92558-C8D2-5700-4B73-45DC5F00D549}"/>
              </a:ext>
            </a:extLst>
          </p:cNvPr>
          <p:cNvSpPr txBox="1"/>
          <p:nvPr/>
        </p:nvSpPr>
        <p:spPr>
          <a:xfrm>
            <a:off x="1788346" y="1379854"/>
            <a:ext cx="430765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Current model:</a:t>
            </a:r>
            <a:r>
              <a:rPr lang="en-US" dirty="0"/>
              <a:t> Contact 100% of households</a:t>
            </a:r>
          </a:p>
          <a:p>
            <a:br>
              <a:rPr lang="en-US" dirty="0"/>
            </a:br>
            <a:r>
              <a:rPr lang="en-US" b="1" dirty="0"/>
              <a:t>Our model:</a:t>
            </a:r>
            <a:r>
              <a:rPr lang="en-US" dirty="0"/>
              <a:t> Contact top 30% highest-risk</a:t>
            </a:r>
          </a:p>
          <a:p>
            <a:endParaRPr lang="en-US" dirty="0"/>
          </a:p>
          <a:p>
            <a:r>
              <a:rPr lang="en-US" b="1" dirty="0"/>
              <a:t>Capture: </a:t>
            </a:r>
            <a:r>
              <a:rPr lang="en-US" dirty="0"/>
              <a:t>95% of actual non-vaccinators</a:t>
            </a:r>
          </a:p>
          <a:p>
            <a:endParaRPr lang="en-US" dirty="0"/>
          </a:p>
          <a:p>
            <a:r>
              <a:rPr lang="en-US" b="1" dirty="0"/>
              <a:t>Result: </a:t>
            </a:r>
            <a:r>
              <a:rPr lang="en-US" dirty="0"/>
              <a:t>Reduce outreach costs by 60-70%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3E957F-3049-C373-0E0A-8F78CC0AA616}"/>
              </a:ext>
            </a:extLst>
          </p:cNvPr>
          <p:cNvSpPr txBox="1"/>
          <p:nvPr/>
        </p:nvSpPr>
        <p:spPr>
          <a:xfrm>
            <a:off x="3465289" y="4323984"/>
            <a:ext cx="34676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SEGMENT BY 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Young adults: Workplace clinics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Middle-aged: Family protection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Seniors: Maintain access</a:t>
            </a:r>
          </a:p>
          <a:p>
            <a:endParaRPr lang="en-K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3BEC93-31C7-76AB-290B-3F5E8D2341D7}"/>
              </a:ext>
            </a:extLst>
          </p:cNvPr>
          <p:cNvSpPr txBox="1"/>
          <p:nvPr/>
        </p:nvSpPr>
        <p:spPr>
          <a:xfrm>
            <a:off x="7015174" y="4323984"/>
            <a:ext cx="451091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3. INVEST IN PROVIDERS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One-page MD guides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EHR prompts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Incentives for high-recommendation clinics</a:t>
            </a:r>
          </a:p>
          <a:p>
            <a:endParaRPr lang="en-K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7C52E8-6344-5FD3-0393-216AD81E7DE4}"/>
              </a:ext>
            </a:extLst>
          </p:cNvPr>
          <p:cNvSpPr txBox="1"/>
          <p:nvPr/>
        </p:nvSpPr>
        <p:spPr>
          <a:xfrm>
            <a:off x="93467" y="4323984"/>
            <a:ext cx="32896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 TIER OUTREACH BY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(0.7-1.0): Direct contact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Medium (0.4-0.6): Digital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(0.0-0.3): Awareness only</a:t>
            </a:r>
          </a:p>
          <a:p>
            <a:endParaRPr lang="en-K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11577-2441-2D3B-50AD-220D620303E6}"/>
              </a:ext>
            </a:extLst>
          </p:cNvPr>
          <p:cNvSpPr txBox="1"/>
          <p:nvPr/>
        </p:nvSpPr>
        <p:spPr>
          <a:xfrm>
            <a:off x="3590741" y="3519664"/>
            <a:ext cx="4510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Three recommendations: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66943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376</TotalTime>
  <Words>459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Tw Cen MT</vt:lpstr>
      <vt:lpstr>Tw Cen MT Condensed</vt:lpstr>
      <vt:lpstr>Wingdings 3</vt:lpstr>
      <vt:lpstr>Integral</vt:lpstr>
      <vt:lpstr>Targeting Flu Vaccine Outreach with Predictive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kagz tina</dc:creator>
  <cp:lastModifiedBy>kagz tina</cp:lastModifiedBy>
  <cp:revision>3</cp:revision>
  <dcterms:created xsi:type="dcterms:W3CDTF">2026-02-12T11:27:29Z</dcterms:created>
  <dcterms:modified xsi:type="dcterms:W3CDTF">2026-02-12T17:47:37Z</dcterms:modified>
</cp:coreProperties>
</file>